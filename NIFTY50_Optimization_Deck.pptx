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Quantum-Inspired QUBO Portfolio Optimization for NIFTY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Title Slide</a:t>
            </a:r>
          </a:p>
          <a:p>
            <a:pPr>
              <a:defRPr sz="1600"/>
            </a:pPr>
            <a:r>
              <a:t>Title: Quantum-Inspired QUBO Portfolio Optimization for NIFTY 50</a:t>
            </a:r>
          </a:p>
          <a:p>
            <a:pPr>
              <a:defRPr sz="1600"/>
            </a:pPr>
            <a:r>
              <a:t>Subtitle: A Three-Agent Framework with Bidirectional LSTM Forecasting and GPU-Accelerated Simulated Bifurcation Solving</a:t>
            </a:r>
          </a:p>
          <a:p>
            <a:pPr>
              <a:defRPr sz="1600"/>
            </a:pPr>
            <a:r>
              <a:t>Authors: Hema Krishna B.V | John Christo | Mahanandh Thilakar | Aneesa Zainab F</a:t>
            </a:r>
          </a:p>
          <a:p>
            <a:pPr>
              <a:defRPr sz="1600"/>
            </a:pPr>
            <a:r>
              <a:t>Institution: St. Joseph's Institute of Technology, Chennai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Classical Optimization Fails at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When cardinality limits, sector caps, and full-investment rules are imposed simultaneously on NIFTY 50's 50 large-cap equities, the problem transforms from a tractable convex program into an NP-hard combinatorial search across $10^{122}$ feasible states.</a:t>
            </a:r>
          </a:p>
          <a:p>
            <a:pPr>
              <a:defRPr sz="1600"/>
            </a:pPr>
            <a:r>
              <a:t>Exact Cardinality: Select precisely 15 of 50 blue-chip holdings (a hard binary constraint).</a:t>
            </a:r>
          </a:p>
          <a:p>
            <a:pPr>
              <a:defRPr sz="1600"/>
            </a:pPr>
            <a:r>
              <a:t>Full Investment: 100% capital deployment (zero cash idle at all times).</a:t>
            </a:r>
          </a:p>
          <a:p>
            <a:pPr>
              <a:defRPr sz="1600"/>
            </a:pPr>
            <a:r>
              <a:t>Sector Cap: Financial-sector weight must be $\le$ 25% (institutional mandate enforced).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Existing Approaches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CVXPY / OSQP: Cannot enforce hard binary cardinality without Big-M relaxation, causing solution quality to degrade significantly under institutional constraints.</a:t>
            </a:r>
          </a:p>
          <a:p>
            <a:pPr>
              <a:defRPr sz="1600"/>
            </a:pPr>
            <a:r>
              <a:t>Genetic Algorithms &amp; Simulated Annealing: Lack convergence guarantees, making them unacceptable for institutional mandates requiring reproducible, auditable results.</a:t>
            </a:r>
          </a:p>
          <a:p>
            <a:pPr>
              <a:defRPr sz="1600"/>
            </a:pPr>
            <a:r>
              <a:t>D-Wave Quantum Annealers: Limited by qubit count, connectivity, and decoherence on realistic problem sizes, and are cost-prohibitive for production deployment.</a:t>
            </a:r>
          </a:p>
          <a:p>
            <a:pPr>
              <a:defRPr sz="1600"/>
            </a:pPr>
            <a:r>
              <a:t>Prior LSTM + MVO Systems: No prior system integrates deep-learning alpha signals with constrained QUBO on Indian equity markets.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Out-Of-Sample · NIFTY 50 · 2023–2024 · P &lt; 0.05</a:t>
            </a:r>
          </a:p>
          <a:p>
            <a:pPr>
              <a:defRPr sz="1600"/>
            </a:pPr>
            <a:r>
              <a:t>Sharpe Ratio: 0.96 (57% improvement vs. 0.74 classical MVO).</a:t>
            </a:r>
          </a:p>
          <a:p>
            <a:pPr>
              <a:defRPr sz="1600"/>
            </a:pPr>
            <a:r>
              <a:t>Sortino Ratio: 1.34 (superior downside protection vs. 1.05 classical MVO).</a:t>
            </a:r>
          </a:p>
          <a:p>
            <a:pPr>
              <a:defRPr sz="1600"/>
            </a:pPr>
            <a:r>
              <a:t>Annualized Return: 14.7% (vs. 13.1% MVO and 12.3% equal-weight).</a:t>
            </a:r>
          </a:p>
          <a:p>
            <a:pPr>
              <a:defRPr sz="1600"/>
            </a:pPr>
            <a:r>
              <a:t>GPU Solve Time: 1.83s Mean wall-clock on NVIDIA RTX 4060 consumer GPU.</a:t>
            </a:r>
          </a:p>
          <a:p>
            <a:pPr>
              <a:defRPr sz="1600"/>
            </a:pPr>
            <a:r>
              <a:t>Hard Constraint Satisfaction: 100% across all 50 evaluation runs, 0 sector cap violations, and 24 monthly rebalancing events validated.</a:t>
            </a:r>
          </a:p>
          <a:p>
            <a:pPr>
              <a:defRPr sz="1600"/>
            </a:pPr>
            <a:r>
              <a:t>| Metric | QUBO-SB | Classical MVO | Equal-Weight |</a:t>
            </a:r>
          </a:p>
          <a:p>
            <a:pPr>
              <a:defRPr sz="1600"/>
            </a:pPr>
            <a:r>
              <a:t>| :--- | :--- | :--- | :--- |</a:t>
            </a:r>
          </a:p>
          <a:p>
            <a:pPr>
              <a:defRPr sz="1600"/>
            </a:pPr>
            <a:r>
              <a:t>| Sharpe Ratio | 0.96 | 0.74 | 0.61 |</a:t>
            </a:r>
          </a:p>
          <a:p>
            <a:pPr>
              <a:defRPr sz="1600"/>
            </a:pPr>
            <a:r>
              <a:t>| Sortino Ratio | 1.34 | 1.05 | 0.87 |</a:t>
            </a:r>
          </a:p>
          <a:p>
            <a:pPr>
              <a:defRPr sz="1600"/>
            </a:pPr>
            <a:r>
              <a:t>| Ann. Return | 14.7% | 13.1% | 12.3% |</a:t>
            </a:r>
          </a:p>
          <a:p>
            <a:pPr>
              <a:defRPr sz="1600"/>
            </a:pPr>
            <a:r>
              <a:t>| Max Drawdown | –18.3% | –22.6% | –28.7% |</a:t>
            </a:r>
          </a:p>
          <a:p>
            <a:pPr>
              <a:defRPr sz="1600"/>
            </a:pPr>
            <a:r>
              <a:t>| Turnover | 8.2% | 14.5% | N/A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Three-Agent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A sequential pipeline (Predict $\rightarrow$ Optimize $\rightarrow$ Deliver) running entirely on a single commodity workstation with &lt; 7.0 GB total VRAM.</a:t>
            </a:r>
          </a:p>
          <a:p>
            <a:pPr>
              <a:defRPr sz="1600"/>
            </a:pPr>
            <a:r>
              <a:t>Sub-Agent 1: Predictive Module</a:t>
            </a:r>
          </a:p>
          <a:p>
            <a:pPr>
              <a:defRPr sz="1600"/>
            </a:pPr>
            <a:r>
              <a:t>Bi-LSTM ingests 10 years of daily NIFTY 50 data, engineering EWMA volatility, MACD, and volume ratio features.</a:t>
            </a:r>
          </a:p>
          <a:p>
            <a:pPr>
              <a:defRPr sz="1600"/>
            </a:pPr>
            <a:r>
              <a:t>Utilizes a 2-layer Bidirectional LSTM (256 hidden units/direction) on 60-day rolling windows.</a:t>
            </a:r>
          </a:p>
          <a:p>
            <a:pPr>
              <a:defRPr sz="1600"/>
            </a:pPr>
            <a:r>
              <a:t>Outputs a 10-day forward alpha vector and a Ledoit-Wolf shrinkage covariance.</a:t>
            </a:r>
          </a:p>
          <a:p>
            <a:pPr>
              <a:defRPr sz="1600"/>
            </a:pPr>
            <a:r>
              <a:t>Sub-Agent 2: QUBO Optimizer</a:t>
            </a:r>
          </a:p>
          <a:p>
            <a:pPr>
              <a:defRPr sz="1600"/>
            </a:pPr>
            <a:r>
              <a:t>Encodes the constrained Markowitz objective as a QUBO Hamiltonian utilizing 7-bit binary weight discretization (128 precision levels) yielding 405 binary decision variables.</a:t>
            </a:r>
          </a:p>
          <a:p>
            <a:pPr>
              <a:defRPr sz="1600"/>
            </a:pPr>
            <a:r>
              <a:t>GPU-accelerated Simulated Bifurcation with 256 parallel trajectories on an NVIDIA RTX 4060 achieves a mean solve of 1.83 $\pm$ 0.12s with an optimality gap &lt; 0.8%.</a:t>
            </a:r>
          </a:p>
          <a:p>
            <a:pPr>
              <a:defRPr sz="1600"/>
            </a:pPr>
            <a:r>
              <a:t>Sub-Agent 3: Institutional Dashboard</a:t>
            </a:r>
          </a:p>
          <a:p>
            <a:pPr>
              <a:defRPr sz="1600"/>
            </a:pPr>
            <a:r>
              <a:t>A Bloomberg Terminal-inspired React/TypeScript interface featuring real-time GPU telemetry, risk analytics, and full constraint visibility for institutional compliance reporting.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QUBO Formulation &amp; Simulated Bifurcation Solver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Encoding the Markowitz portfolio selection problem as a binary quadratic Hamiltonian makes every institutional constraint a penalty term.</a:t>
            </a:r>
          </a:p>
          <a:p>
            <a:pPr>
              <a:defRPr sz="1600"/>
            </a:pPr>
            <a:r>
              <a:t>Binary Variable Encoding:</a:t>
            </a:r>
          </a:p>
          <a:p>
            <a:pPr>
              <a:defRPr sz="1600"/>
            </a:pPr>
            <a:r>
              <a:t>50 assets $\times$ 7 bits = 350 weight variables</a:t>
            </a:r>
          </a:p>
          <a:p>
            <a:pPr>
              <a:defRPr sz="1600"/>
            </a:pPr>
            <a:r>
              <a:t>+ 50 cardinality indicators</a:t>
            </a:r>
          </a:p>
          <a:p>
            <a:pPr>
              <a:defRPr sz="1600"/>
            </a:pPr>
            <a:r>
              <a:t>+ 5 sector slack bits</a:t>
            </a:r>
          </a:p>
          <a:p>
            <a:pPr>
              <a:defRPr sz="1600"/>
            </a:pPr>
            <a:r>
              <a:t>= 405 binary variables total</a:t>
            </a:r>
          </a:p>
          <a:p>
            <a:pPr>
              <a:defRPr sz="1600"/>
            </a:pPr>
            <a:r>
              <a:t>| Term | Role |</a:t>
            </a:r>
          </a:p>
          <a:p>
            <a:pPr>
              <a:defRPr sz="1600"/>
            </a:pPr>
            <a:r>
              <a:t>| :--- | :--- |</a:t>
            </a:r>
          </a:p>
          <a:p>
            <a:pPr>
              <a:defRPr sz="1600"/>
            </a:pPr>
            <a:r>
              <a:t>| –$\lambda\mu^{\top}w$ | Return maximization via Bi-LSTM alpha signal |</a:t>
            </a:r>
          </a:p>
          <a:p>
            <a:pPr>
              <a:defRPr sz="1600"/>
            </a:pPr>
            <a:r>
              <a:t>| $\rho w^{\top}\tilde{\Sigma}w$ | Risk minimization via Ledoit-Wolf covariance |</a:t>
            </a:r>
          </a:p>
          <a:p>
            <a:pPr>
              <a:defRPr sz="1600"/>
            </a:pPr>
            <a:r>
              <a:t>| $\lambda_c(\sum y_i - 15)^2$ | Hard cardinality: exactly 15 assets selected |</a:t>
            </a:r>
          </a:p>
          <a:p>
            <a:pPr>
              <a:defRPr sz="1600"/>
            </a:pPr>
            <a:r>
              <a:t>| $\lambda_b(\sum w_i - 1)^2$ | Full investment: 100% capital deployed |</a:t>
            </a:r>
          </a:p>
          <a:p>
            <a:pPr>
              <a:defRPr sz="1600"/>
            </a:pPr>
            <a:r>
              <a:t>| $\lambda_s(\dots)^2$ | Financial sector cap $\le$ 25% via slack bits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Bi-LSTM Alpha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Forecasting 10-day forward returns for all 50 NIFTY constituents simultaneously with zero look-ahead bias.</a:t>
            </a:r>
          </a:p>
          <a:p>
            <a:pPr>
              <a:defRPr sz="1600"/>
            </a:pPr>
            <a:r>
              <a:t>Feature Engineering:</a:t>
            </a:r>
          </a:p>
          <a:p>
            <a:pPr>
              <a:defRPr sz="1600"/>
            </a:pPr>
            <a:r>
              <a:t>EWMA Volatility: 21-day half-life exponential weighting capturing time-varying risk regimes.</a:t>
            </a:r>
          </a:p>
          <a:p>
            <a:pPr>
              <a:defRPr sz="1600"/>
            </a:pPr>
            <a:r>
              <a:t>MACD Line &amp; Signal: Momentum and trend identification across multiple timeframes.</a:t>
            </a:r>
          </a:p>
          <a:p>
            <a:pPr>
              <a:defRPr sz="1600"/>
            </a:pPr>
            <a:r>
              <a:t>Volume Ratios: 5-day and 21-day normalized liquidity and participation signals.</a:t>
            </a:r>
          </a:p>
          <a:p>
            <a:pPr>
              <a:defRPr sz="1600"/>
            </a:pPr>
            <a:r>
              <a:t>Z-Score Normalization: 252-day trailing window strictly enforcing zero look-ahead bias.</a:t>
            </a:r>
          </a:p>
          <a:p>
            <a:pPr>
              <a:defRPr sz="1600"/>
            </a:pPr>
            <a:r>
              <a:t>Network Architecture:</a:t>
            </a:r>
          </a:p>
          <a:p>
            <a:pPr>
              <a:defRPr sz="1600"/>
            </a:pPr>
            <a:r>
              <a:t>2$\times$ Bidirectional LSTM Layers: 256 hidden units per direction with a dropout of 0.3 for regularization.</a:t>
            </a:r>
          </a:p>
          <a:p>
            <a:pPr>
              <a:defRPr sz="1600"/>
            </a:pPr>
            <a:r>
              <a:t>Linear Output Neuron: Return regression utilizing the Adam optimizer ($lr = 10^{-3}$) and cosine annealing.</a:t>
            </a:r>
          </a:p>
          <a:p>
            <a:pPr>
              <a:defRPr sz="1600"/>
            </a:pPr>
            <a:r>
              <a:t>Training Configuration: Batch size of 32, gradient checkpointing for ~3.5$\times$ memory reduction, 60-day rolling input windows.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Ablation Study &amp; Synergistic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Each component contributes independently, and the full system is super-additive: the whole exceeds the sum of its parts.</a:t>
            </a:r>
          </a:p>
          <a:p>
            <a:pPr>
              <a:defRPr sz="1600"/>
            </a:pPr>
            <a:r>
              <a:t>Equal-Weight Baseline: Sharpe: 0.61 (64%)</a:t>
            </a:r>
          </a:p>
          <a:p>
            <a:pPr>
              <a:defRPr sz="1600"/>
            </a:pPr>
            <a:r>
              <a:t>QUBO-SB Only (no alpha): Sharpe: 0.71 (+0.10) (74%)</a:t>
            </a:r>
          </a:p>
          <a:p>
            <a:pPr>
              <a:defRPr sz="1600"/>
            </a:pPr>
            <a:r>
              <a:t>Bi-LSTM Alpha Only (no QUBO): Sharpe: 0.78 (+0.17) (81%)</a:t>
            </a:r>
          </a:p>
          <a:p>
            <a:pPr>
              <a:defRPr sz="1600"/>
            </a:pPr>
            <a:r>
              <a:t>Full System (Bi-LSTM + QUBO + SB): Sharpe: 0.96 (+0.35) (100%)</a:t>
            </a:r>
          </a:p>
          <a:p>
            <a:pPr>
              <a:defRPr sz="1600"/>
            </a:pPr>
            <a:r>
              <a:t>The central insight: quantum-inspired combinatorial solvers and deep-learning forecasters are complementary. The Bi-LSTM identifies which assets to overweight; the SB solver determines how much weight to allocate subject to hard institutional constraints.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Landscape &amp; 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The first system to combine all five institutional requirements, validated on Indian equities with statistically significant out-of-sample results.</a:t>
            </a:r>
          </a:p>
          <a:p>
            <a:pPr>
              <a:defRPr sz="1600"/>
            </a:pPr>
            <a:r>
              <a:t>| Capability | This Work | Classical MVO | LSTM + MVO | D-Wave QAOA |</a:t>
            </a:r>
          </a:p>
          <a:p>
            <a:pPr>
              <a:defRPr sz="1600"/>
            </a:pPr>
            <a:r>
              <a:t>| :--- | :--- | :--- | :--- | :--- |</a:t>
            </a:r>
          </a:p>
          <a:p>
            <a:pPr>
              <a:defRPr sz="1600"/>
            </a:pPr>
            <a:r>
              <a:t>| Hard cardinality constraint | Yes | No | No | Yes |</a:t>
            </a:r>
          </a:p>
          <a:p>
            <a:pPr>
              <a:defRPr sz="1600"/>
            </a:pPr>
            <a:r>
              <a:t>| Sector concentration cap | Yes | No | No | Yes |</a:t>
            </a:r>
          </a:p>
          <a:p>
            <a:pPr>
              <a:defRPr sz="1600"/>
            </a:pPr>
            <a:r>
              <a:t>| Deep-learning alpha signal | Yes | No | Yes | No |</a:t>
            </a:r>
          </a:p>
          <a:p>
            <a:pPr>
              <a:defRPr sz="1600"/>
            </a:pPr>
            <a:r>
              <a:t>| Commodity GPU hardware | Yes | Yes | Yes | No |</a:t>
            </a:r>
          </a:p>
          <a:p>
            <a:pPr>
              <a:defRPr sz="1600"/>
            </a:pPr>
            <a:r>
              <a:t>| Indian equity market focus | Yes | Yes | Yes | No |</a:t>
            </a:r>
          </a:p>
          <a:p>
            <a:pPr>
              <a:defRPr sz="1600"/>
            </a:pPr>
            <a:r>
              <a:t>| Production solve latency | 1.83s | - | - | No |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Novel Architecture: First integrated Bi-LSTM–QUBO–SB pipeline validated on Indian equity markets with all three institutional hard constraints enforced simultaneously.</a:t>
            </a:r>
          </a:p>
          <a:p>
            <a:pPr>
              <a:defRPr sz="1600"/>
            </a:pPr>
            <a:r>
              <a:t>Statistical Significance: 57% Sharpe improvement ($p &lt; 0.05$) and 36% drawdown reduction over equal-weight, validated across 24 out-of-sample monthly rebalancing events.</a:t>
            </a:r>
          </a:p>
          <a:p>
            <a:pPr>
              <a:defRPr sz="1600"/>
            </a:pPr>
            <a:r>
              <a:t>Near-Term Roadmap: Scale to NIFTY 500 ($N &gt; 3,500$ binary variables), add transaction cost constraints, and perform multi-period optimization with turnover regularization.</a:t>
            </a:r>
          </a:p>
          <a:p>
            <a:pPr>
              <a:defRPr sz="1600"/>
            </a:pPr>
            <a:r>
              <a:t>Mid-Term Roadmap: Implement an RL-based dynamic rebalancing policy to replace the fixed forecast horizon, and benchmark against D-Wave Advantage.</a:t>
            </a:r>
          </a:p>
          <a:p>
            <a:pPr>
              <a:defRPr sz="1600"/>
            </a:pPr>
            <a:r>
              <a:t>Long-Term Roadmap (QuantumFolio): Open-source PyPI library bridging quantum-inspired and classical portfolio optimization in a unified API for live trading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